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462" r:id="rId5"/>
    <p:sldId id="463" r:id="rId6"/>
    <p:sldId id="465" r:id="rId7"/>
    <p:sldId id="466" r:id="rId8"/>
    <p:sldId id="467" r:id="rId9"/>
    <p:sldId id="468" r:id="rId10"/>
    <p:sldId id="469" r:id="rId11"/>
    <p:sldId id="471" r:id="rId12"/>
    <p:sldId id="472" r:id="rId13"/>
    <p:sldId id="473" r:id="rId14"/>
    <p:sldId id="476" r:id="rId15"/>
    <p:sldId id="477" r:id="rId16"/>
    <p:sldId id="479" r:id="rId17"/>
  </p:sldIdLst>
  <p:sldSz cx="9144000" cy="6858000" type="screen4x3"/>
  <p:notesSz cx="6858000" cy="9144000"/>
  <p:defaultTextStyle>
    <a:defPPr>
      <a:defRPr lang="en-I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35" autoAdjust="0"/>
    <p:restoredTop sz="93800" autoAdjust="0"/>
  </p:normalViewPr>
  <p:slideViewPr>
    <p:cSldViewPr showGuides="1">
      <p:cViewPr varScale="1">
        <p:scale>
          <a:sx n="62" d="100"/>
          <a:sy n="62" d="100"/>
        </p:scale>
        <p:origin x="774" y="66"/>
      </p:cViewPr>
      <p:guideLst>
        <p:guide orient="horz" pos="217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9F9651-5665-44E5-8197-800B2415532C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960C1-A6A2-4A6A-8D40-4E1C8D4CB96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2960C1-A6A2-4A6A-8D40-4E1C8D4CB968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14E34B3-9429-44A0-B66A-1306DF238CC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Shristi Technology Labs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568F2E-0BC0-4AD8-8247-2CBE9E0F9E3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Shristi Technology Labs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AECF8E-FEA9-4341-82B8-EAAE1AB4157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Shristi Technology Labs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4B92D41-22B5-427F-B11C-B3EF1F7B0893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Shristi Technology Labs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BFEFC8-9B8B-4111-9B92-D4E0F66105F0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Shristi Technology Labs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47BFE0E-4FB6-4B1E-B101-5671DA8CA1A1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Shristi Technology Labs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30CD6B-00DE-4578-8B01-B1DC4B034FD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Shristi Technology Labs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3008313" cy="5983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764704"/>
            <a:ext cx="5111750" cy="53614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27729E-A58B-41BC-AB4E-14F52B37E212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Shristi Technology Labs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764703"/>
            <a:ext cx="5486400" cy="3962871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IN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65FD36-D983-4A58-A7BB-D2F262E6D07D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Shristi Technology Labs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AFE86E2-B112-46C0-8349-352FEFF8DCD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Shristi Technology Labs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8211BBB-49F6-4BF3-B9B6-A433DE7A768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Shristi Technology Labs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 cstate="print">
            <a:alphaModFix amt="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watermark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131050" y="49213"/>
            <a:ext cx="19050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836613"/>
            <a:ext cx="8229600" cy="581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IN" dirty="0" smtClean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1A171987-FEBB-4042-AF9A-D99BB133573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r>
              <a:rPr lang="en-US" smtClean="0"/>
              <a:t>Shristi Technology Labs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92150"/>
            <a:ext cx="9144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0" y="6237288"/>
            <a:ext cx="9144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819400"/>
            <a:ext cx="7772400" cy="781050"/>
          </a:xfrm>
        </p:spPr>
        <p:txBody>
          <a:bodyPr/>
          <a:lstStyle/>
          <a:p>
            <a:r>
              <a:rPr lang="en-US" sz="5400" dirty="0" smtClean="0"/>
              <a:t>Spring – </a:t>
            </a:r>
            <a:r>
              <a:rPr lang="en-IN" altLang="en-US" sz="5400" dirty="0" smtClean="0"/>
              <a:t>One Liners</a:t>
            </a:r>
            <a:endParaRPr lang="en-IN" altLang="en-US" sz="54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990600"/>
          </a:xfrm>
        </p:spPr>
        <p:txBody>
          <a:bodyPr/>
          <a:lstStyle/>
          <a:p>
            <a:r>
              <a:rPr lang="en-US" dirty="0" smtClean="0"/>
              <a:t>		</a:t>
            </a:r>
            <a:r>
              <a:rPr lang="en-US" sz="2800" dirty="0" smtClean="0"/>
              <a:t>Shristi Technology Labs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6130"/>
            <a:ext cx="8229600" cy="5340350"/>
          </a:xfrm>
        </p:spPr>
        <p:txBody>
          <a:bodyPr/>
          <a:p>
            <a:pPr marL="457200" indent="-457200">
              <a:buFont typeface="+mj-lt"/>
              <a:buAutoNum type="arabicPeriod"/>
            </a:pPr>
            <a:endParaRPr lang="en-IN" altLang="en-US" sz="2000" b="1" dirty="0">
              <a:solidFill>
                <a:schemeClr val="tx1"/>
              </a:solidFill>
              <a:sym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altLang="en-US" sz="2000" b="1" dirty="0">
                <a:sym typeface="+mn-ea"/>
              </a:rPr>
              <a:t>The client sends the data in the url.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Which annotation is used to retrieve this data?</a:t>
            </a:r>
            <a:endParaRPr lang="en-IN" altLang="en-US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457200" lvl="1" indent="0"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@PathVariable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457200" indent="-457200">
              <a:buAutoNum type="arabicPeriod"/>
            </a:pPr>
            <a:endParaRPr lang="en-IN" altLang="en-US" sz="2000" b="1" dirty="0">
              <a:sym typeface="+mn-ea"/>
            </a:endParaRPr>
          </a:p>
          <a:p>
            <a:pPr marL="457200" indent="-457200">
              <a:buAutoNum type="arabicPeriod"/>
            </a:pPr>
            <a:r>
              <a:rPr lang="en-IN" altLang="en-US" sz="2000" b="1" dirty="0">
                <a:sym typeface="+mn-ea"/>
              </a:rPr>
              <a:t>The client sends the data from a form that uses get method. Which annotation helps to retrieve this data?</a:t>
            </a:r>
            <a:endParaRPr lang="en-IN" altLang="en-US" sz="2000" b="1" dirty="0">
              <a:sym typeface="+mn-ea"/>
            </a:endParaRPr>
          </a:p>
          <a:p>
            <a:pPr marL="0" lvl="1" indent="457200"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@RequestParam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457200" indent="-457200">
              <a:buAutoNum type="arabicPeriod"/>
            </a:pPr>
            <a:endParaRPr lang="en-IN" altLang="en-US" sz="2000" b="1" dirty="0">
              <a:sym typeface="+mn-ea"/>
            </a:endParaRPr>
          </a:p>
          <a:p>
            <a:pPr marL="457200" indent="-457200">
              <a:buAutoNum type="arabicPeriod"/>
            </a:pPr>
            <a:r>
              <a:rPr lang="en-IN" altLang="en-US" sz="2000" b="1" dirty="0">
                <a:sym typeface="+mn-ea"/>
              </a:rPr>
              <a:t>What annotation marks the main class as a Spring Boot application? </a:t>
            </a:r>
            <a:endParaRPr lang="en-IN" altLang="en-US" sz="2000" b="1" dirty="0">
              <a:sym typeface="+mn-ea"/>
            </a:endParaRPr>
          </a:p>
          <a:p>
            <a:pPr marL="0" lvl="1" indent="457200"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@SpringBootApplication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457200" indent="-457200">
              <a:buFont typeface="+mj-lt"/>
              <a:buAutoNum type="arabicPeriod"/>
            </a:pPr>
            <a:endParaRPr lang="en-US" altLang="en-GB" sz="2000" b="1" dirty="0">
              <a:sym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GB" sz="2000" b="1" dirty="0">
                <a:sym typeface="+mn-ea"/>
              </a:rPr>
              <a:t>How do you change the server port? </a:t>
            </a:r>
            <a:endParaRPr lang="en-US" altLang="en-GB" sz="2000" b="1" dirty="0">
              <a:sym typeface="+mn-ea"/>
            </a:endParaRPr>
          </a:p>
          <a:p>
            <a:pPr marL="0" lvl="1" indent="457200" algn="l">
              <a:buClrTx/>
              <a:buSzTx/>
              <a:buNone/>
            </a:pPr>
            <a:r>
              <a:rPr lang="en-IN" altLang="en-US" sz="2000" b="1" dirty="0">
                <a:latin typeface="Arial" panose="020B0604020202020204" pitchFamily="34" charset="0"/>
                <a:sym typeface="+mn-ea"/>
              </a:rPr>
              <a:t>Set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server.port=8081 </a:t>
            </a:r>
            <a:r>
              <a:rPr lang="en-US" altLang="en-GB" sz="2000" b="1" dirty="0">
                <a:latin typeface="Arial" panose="020B0604020202020204" pitchFamily="34" charset="0"/>
                <a:sym typeface="+mn-ea"/>
              </a:rPr>
              <a:t>in yml/properties file</a:t>
            </a:r>
            <a:endParaRPr lang="en-IN" altLang="en-US" sz="2000" b="1" dirty="0"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6130"/>
            <a:ext cx="8229600" cy="5340350"/>
          </a:xfrm>
        </p:spPr>
        <p:txBody>
          <a:bodyPr/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5. The client sends the data from a form that uses post method.  Which annotation helps to retrieve this data?</a:t>
            </a: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@RequestBody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6.  </a:t>
            </a:r>
            <a:r>
              <a:rPr lang="en-US" altLang="en-GB" sz="2000" b="1" dirty="0">
                <a:sym typeface="+mn-ea"/>
              </a:rPr>
              <a:t>How do you convert a Spring Boot app to an executable JAR?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457200" lvl="1" indent="0">
              <a:buNone/>
            </a:pPr>
            <a:r>
              <a:rPr lang="en-IN" altLang="en-US" sz="2000" b="1" dirty="0">
                <a:latin typeface="Arial" panose="020B0604020202020204" pitchFamily="34" charset="0"/>
                <a:sym typeface="+mn-ea"/>
              </a:rPr>
              <a:t>Build using Maven/Gradle Plugin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mvn package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7. </a:t>
            </a:r>
            <a:r>
              <a:rPr lang="en-US" altLang="en-GB" sz="2000" b="1" dirty="0">
                <a:sym typeface="+mn-ea"/>
              </a:rPr>
              <a:t>Which file holds default Spring Boot configuration</a:t>
            </a:r>
            <a:r>
              <a:rPr lang="en-IN" altLang="en-US" sz="2000" b="1" dirty="0">
                <a:sym typeface="+mn-ea"/>
              </a:rPr>
              <a:t>?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    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application.properties/application.yml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8. If more than one bean of the same type is available, w</a:t>
            </a:r>
            <a:r>
              <a:rPr lang="en-US" altLang="en-GB" sz="2000" b="1" dirty="0">
                <a:sym typeface="+mn-ea"/>
              </a:rPr>
              <a:t>hich annotation </a:t>
            </a:r>
            <a:r>
              <a:rPr lang="en-IN" altLang="en-US" sz="2000" b="1" dirty="0">
                <a:sym typeface="+mn-ea"/>
              </a:rPr>
              <a:t>is used to choose and </a:t>
            </a:r>
            <a:r>
              <a:rPr lang="en-US" altLang="en-GB" sz="2000" b="1" dirty="0">
                <a:sym typeface="+mn-ea"/>
              </a:rPr>
              <a:t>inject a</a:t>
            </a:r>
            <a:r>
              <a:rPr lang="en-IN" altLang="en-US" sz="2000" b="1" dirty="0">
                <a:sym typeface="+mn-ea"/>
              </a:rPr>
              <a:t> specific</a:t>
            </a:r>
            <a:r>
              <a:rPr lang="en-US" altLang="en-GB" sz="2000" b="1" dirty="0">
                <a:sym typeface="+mn-ea"/>
              </a:rPr>
              <a:t> bean</a:t>
            </a:r>
            <a:r>
              <a:rPr lang="en-IN" altLang="en-US" sz="2000" b="1" dirty="0">
                <a:sym typeface="+mn-ea"/>
              </a:rPr>
              <a:t>?</a:t>
            </a:r>
            <a:r>
              <a:rPr lang="en-US" altLang="en-GB" sz="2000" b="1" dirty="0">
                <a:sym typeface="+mn-ea"/>
              </a:rPr>
              <a:t> </a:t>
            </a:r>
            <a:endParaRPr lang="en-US" altLang="en-GB" sz="2000" b="1" dirty="0">
              <a:sym typeface="+mn-ea"/>
            </a:endParaRPr>
          </a:p>
          <a:p>
            <a:pPr marL="0" indent="0">
              <a:buNone/>
            </a:pP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@Qualifier</a:t>
            </a:r>
            <a:r>
              <a:rPr lang="en-IN" altLang="en-US" sz="2000" b="1" dirty="0">
                <a:sym typeface="+mn-ea"/>
              </a:rPr>
              <a:t> </a:t>
            </a:r>
            <a:endParaRPr lang="en-IN" altLang="en-US" sz="2000" b="1" dirty="0"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6130"/>
            <a:ext cx="8229600" cy="5340350"/>
          </a:xfrm>
        </p:spPr>
        <p:txBody>
          <a:bodyPr/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9. </a:t>
            </a: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If the client wants to update 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few </a:t>
            </a: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properties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 of a resource</a:t>
            </a: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, which 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ann</a:t>
            </a: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otation 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is</a:t>
            </a: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 use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d</a:t>
            </a: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 to map the controller method?</a:t>
            </a:r>
            <a:endParaRPr lang="en-US" altLang="en-GB" sz="2000" b="1" dirty="0">
              <a:solidFill>
                <a:schemeClr val="tx1"/>
              </a:solidFill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   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@PatchMapping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10.  Difference between patch and put</a:t>
            </a: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    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put </a:t>
            </a:r>
            <a:r>
              <a:rPr lang="en-IN" altLang="en-US" sz="2000" b="1" dirty="0">
                <a:sym typeface="+mn-ea"/>
              </a:rPr>
              <a:t>- is for full update 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patch </a:t>
            </a:r>
            <a:r>
              <a:rPr lang="en-IN" altLang="en-US" sz="2000" b="1" dirty="0">
                <a:sym typeface="+mn-ea"/>
              </a:rPr>
              <a:t>-  for partial updates</a:t>
            </a: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11. </a:t>
            </a:r>
            <a:r>
              <a:rPr lang="en-US" altLang="en-GB" sz="2000" b="1" dirty="0">
                <a:sym typeface="+mn-ea"/>
              </a:rPr>
              <a:t>In a Spring MVC application, which servlet is responsible for handling all incoming client requests?</a:t>
            </a:r>
            <a:r>
              <a:rPr lang="en-IN" altLang="en-US" sz="2000" b="1" dirty="0">
                <a:sym typeface="+mn-ea"/>
              </a:rPr>
              <a:t>     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     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DispatcherServlet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12. </a:t>
            </a:r>
            <a:r>
              <a:rPr lang="en-IN" sz="2000" b="1" dirty="0">
                <a:sym typeface="+mn-ea"/>
              </a:rPr>
              <a:t>Which </a:t>
            </a:r>
            <a:r>
              <a:rPr lang="en-IN" sz="2000" b="1" dirty="0">
                <a:sym typeface="+mn-ea"/>
              </a:rPr>
              <a:t>annotation is used to give a different table name for an entity</a:t>
            </a:r>
            <a:r>
              <a:rPr lang="en-US" altLang="en-GB" sz="2000" b="1" dirty="0">
                <a:sym typeface="+mn-ea"/>
              </a:rPr>
              <a:t>? </a:t>
            </a:r>
            <a:endParaRPr lang="en-US" altLang="en-GB" sz="2000" b="1" dirty="0">
              <a:sym typeface="+mn-ea"/>
            </a:endParaRPr>
          </a:p>
          <a:p>
            <a:pPr marL="0" indent="0">
              <a:buNone/>
            </a:pP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@Table(name=”product_details”)</a:t>
            </a:r>
            <a:r>
              <a:rPr lang="en-IN" altLang="en-US" sz="2000" b="1" dirty="0">
                <a:sym typeface="+mn-ea"/>
              </a:rPr>
              <a:t> </a:t>
            </a:r>
            <a:endParaRPr lang="en-IN" altLang="en-US" sz="2000" b="1" dirty="0"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6130"/>
            <a:ext cx="8229600" cy="5340350"/>
          </a:xfrm>
        </p:spPr>
        <p:txBody>
          <a:bodyPr/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13. </a:t>
            </a: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Which annotation is used to inject dependencies into a class, but also supports optional injection when no bean is available?</a:t>
            </a:r>
            <a:endParaRPr lang="en-US" altLang="en-GB" sz="2000" b="1" dirty="0">
              <a:solidFill>
                <a:schemeClr val="tx1"/>
              </a:solidFill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      use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@Autowired(required=false)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14. Which annotation is used to autogenerate the id? </a:t>
            </a: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    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@GeneratedValue</a:t>
            </a: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15. Which annotation allows the class to be autodetected as a spring bean</a:t>
            </a:r>
            <a:r>
              <a:rPr lang="en-US" altLang="en-GB" sz="2000" b="1" dirty="0">
                <a:sym typeface="+mn-ea"/>
              </a:rPr>
              <a:t>?</a:t>
            </a:r>
            <a:r>
              <a:rPr lang="en-IN" altLang="en-US" sz="2000" b="1" dirty="0">
                <a:sym typeface="+mn-ea"/>
              </a:rPr>
              <a:t>     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@Component, @Service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16. </a:t>
            </a:r>
            <a:r>
              <a:rPr lang="en-IN" sz="2000" b="1" dirty="0">
                <a:sym typeface="+mn-ea"/>
              </a:rPr>
              <a:t>Which </a:t>
            </a:r>
            <a:r>
              <a:rPr lang="en-IN" sz="2000" b="1" dirty="0">
                <a:sym typeface="+mn-ea"/>
              </a:rPr>
              <a:t>annotation is used to mark a property as id </a:t>
            </a:r>
            <a:r>
              <a:rPr lang="en-US" altLang="en-GB" sz="2000" b="1" dirty="0">
                <a:sym typeface="+mn-ea"/>
              </a:rPr>
              <a:t>? </a:t>
            </a:r>
            <a:endParaRPr lang="en-US" altLang="en-GB" sz="2000" b="1" dirty="0">
              <a:sym typeface="+mn-ea"/>
            </a:endParaRPr>
          </a:p>
          <a:p>
            <a:pPr marL="0" indent="0">
              <a:buNone/>
            </a:pP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@Id</a:t>
            </a:r>
            <a:r>
              <a:rPr lang="en-IN" altLang="en-US" sz="2000" b="1" dirty="0">
                <a:sym typeface="+mn-ea"/>
              </a:rPr>
              <a:t> </a:t>
            </a:r>
            <a:endParaRPr lang="en-IN" altLang="en-US" sz="2000" b="1" dirty="0"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6130"/>
            <a:ext cx="8229600" cy="5340350"/>
          </a:xfrm>
        </p:spPr>
        <p:txBody>
          <a:bodyPr/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17. H</a:t>
            </a: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ow many instances of a bean are created by default</a:t>
            </a: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?</a:t>
            </a:r>
            <a:endParaRPr lang="en-US" altLang="en-GB" sz="2000" b="1" dirty="0">
              <a:solidFill>
                <a:schemeClr val="tx1"/>
              </a:solidFill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  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one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 instance for each class(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singleton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)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18. Which type of dependency injection helps to create immutable   classes?</a:t>
            </a: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    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Constructor Based DI </a:t>
            </a: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19. How to check the metrics and health of a spring application?   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Add actuator dependency </a:t>
            </a:r>
            <a:r>
              <a:rPr lang="en-IN" altLang="en-US" sz="2000" b="1" dirty="0">
                <a:sym typeface="+mn-ea"/>
              </a:rPr>
              <a:t>and expose the endpoints in yml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20. </a:t>
            </a:r>
            <a:r>
              <a:rPr lang="en-US" altLang="en-GB" sz="2000" b="1" dirty="0">
                <a:sym typeface="+mn-ea"/>
              </a:rPr>
              <a:t>How would Spring inject a value from application.properties into a field</a:t>
            </a:r>
            <a:r>
              <a:rPr lang="en-US" altLang="en-GB" sz="2000" b="1" dirty="0">
                <a:sym typeface="+mn-ea"/>
              </a:rPr>
              <a:t>? </a:t>
            </a:r>
            <a:endParaRPr lang="en-US" altLang="en-GB" sz="2000" b="1" dirty="0">
              <a:sym typeface="+mn-ea"/>
            </a:endParaRPr>
          </a:p>
          <a:p>
            <a:pPr marL="0" indent="0">
              <a:buNone/>
            </a:pP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 Using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@Value(“${employee.name”}) </a:t>
            </a:r>
            <a:r>
              <a:rPr lang="en-IN" altLang="en-US" sz="2000" b="1" dirty="0">
                <a:sym typeface="+mn-ea"/>
              </a:rPr>
              <a:t>annotation</a:t>
            </a:r>
            <a:endParaRPr lang="en-IN" altLang="en-US" sz="2000" b="1" dirty="0"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6130"/>
            <a:ext cx="8415020" cy="5340350"/>
          </a:xfrm>
        </p:spPr>
        <p:txBody>
          <a:bodyPr/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21. </a:t>
            </a:r>
            <a:r>
              <a:rPr lang="en-IN" sz="2000" b="1" dirty="0">
                <a:sym typeface="+mn-ea"/>
              </a:rPr>
              <a:t>Which annotation marks a class as a RESTAPI </a:t>
            </a: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?</a:t>
            </a:r>
            <a:endParaRPr lang="en-US" altLang="en-GB" sz="2000" b="1" dirty="0">
              <a:solidFill>
                <a:schemeClr val="tx1"/>
              </a:solidFill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  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@RestController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22. How to handle the exceptions that occur in a controller class?</a:t>
            </a: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     Add a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 method annotated with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@ExceptionHandler </a:t>
            </a:r>
            <a:r>
              <a:rPr lang="en-IN" altLang="en-US" sz="2000" b="1" dirty="0">
                <a:sym typeface="+mn-ea"/>
              </a:rPr>
              <a:t>in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controller</a:t>
            </a: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23. How to </a:t>
            </a:r>
            <a:r>
              <a:rPr lang="en-IN" altLang="en-US" sz="2000" b="1" dirty="0">
                <a:sym typeface="+mn-ea"/>
              </a:rPr>
              <a:t>handle all the exceptions that occur in REST API?</a:t>
            </a:r>
            <a:r>
              <a:rPr lang="en-IN" altLang="en-US" sz="2000" b="1" dirty="0">
                <a:sym typeface="+mn-ea"/>
              </a:rPr>
              <a:t>   </a:t>
            </a:r>
            <a:endParaRPr lang="en-IN" altLang="en-US" sz="2000" b="1" dirty="0">
              <a:sym typeface="+mn-ea"/>
            </a:endParaRPr>
          </a:p>
          <a:p>
            <a:pPr marL="0" algn="l">
              <a:buClrTx/>
              <a:buSzTx/>
              <a:buFont typeface="+mj-lt"/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</a:t>
            </a:r>
            <a:r>
              <a:rPr lang="en-IN" altLang="en-US" sz="2000" b="1" dirty="0">
                <a:sym typeface="+mn-ea"/>
              </a:rPr>
              <a:t> Create a class annotated with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@ControllerAdvice </a:t>
            </a:r>
            <a:r>
              <a:rPr lang="en-IN" altLang="en-US" sz="2000" b="1" dirty="0">
                <a:sym typeface="+mn-ea"/>
              </a:rPr>
              <a:t>to handle exceptions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24.</a:t>
            </a: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While autowiring, if</a:t>
            </a:r>
            <a:r>
              <a:rPr lang="en-US" altLang="en-GB" sz="2000" b="1" dirty="0">
                <a:sym typeface="+mn-ea"/>
              </a:rPr>
              <a:t> two beans of type </a:t>
            </a:r>
            <a:r>
              <a:rPr lang="en-US" altLang="en-GB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PaymentService </a:t>
            </a:r>
            <a:r>
              <a:rPr lang="en-US" altLang="en-GB" sz="2000" b="1" dirty="0">
                <a:sym typeface="+mn-ea"/>
              </a:rPr>
              <a:t>exist, what will Spring do? </a:t>
            </a:r>
            <a:endParaRPr lang="en-US" altLang="en-GB" sz="2000" b="1" dirty="0">
              <a:sym typeface="+mn-ea"/>
            </a:endParaRPr>
          </a:p>
          <a:p>
            <a:pPr marL="0" indent="0">
              <a:buNone/>
            </a:pP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 Throws </a:t>
            </a:r>
            <a:r>
              <a:rPr lang="en-US" altLang="en-GB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NoUniqueBeanDefinitionException</a:t>
            </a: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6130"/>
            <a:ext cx="8415020" cy="5340350"/>
          </a:xfrm>
        </p:spPr>
        <p:txBody>
          <a:bodyPr/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25. </a:t>
            </a:r>
            <a:r>
              <a:rPr lang="en-US" altLang="en-GB" sz="2000" b="1" dirty="0">
                <a:sym typeface="+mn-ea"/>
              </a:rPr>
              <a:t>What does Spring do with a controller return value when you forget @ResponseBody or @RestController</a:t>
            </a:r>
            <a:r>
              <a:rPr lang="en-IN" sz="2000" b="1" dirty="0">
                <a:sym typeface="+mn-ea"/>
              </a:rPr>
              <a:t> </a:t>
            </a: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?</a:t>
            </a:r>
            <a:endParaRPr lang="en-US" altLang="en-GB" sz="2000" b="1" dirty="0">
              <a:solidFill>
                <a:schemeClr val="tx1"/>
              </a:solidFill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  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The return value will be considered as view name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26. </a:t>
            </a:r>
            <a:r>
              <a:rPr lang="en-US" altLang="en-GB" sz="2000" b="1" dirty="0">
                <a:sym typeface="+mn-ea"/>
              </a:rPr>
              <a:t>What design pattern does Spring use to manage bean creation and wiring</a:t>
            </a:r>
            <a:r>
              <a:rPr lang="en-IN" altLang="en-US" sz="2000" b="1" dirty="0">
                <a:sym typeface="+mn-ea"/>
              </a:rPr>
              <a:t>?</a:t>
            </a: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   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Dependency Injection</a:t>
            </a: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27. </a:t>
            </a:r>
            <a:r>
              <a:rPr lang="en-US" altLang="en-GB" sz="2000" b="1" dirty="0">
                <a:sym typeface="+mn-ea"/>
              </a:rPr>
              <a:t>What does @SpringBootApplication actually contain?</a:t>
            </a:r>
            <a:r>
              <a:rPr lang="en-IN" altLang="en-US" sz="2000" b="1" dirty="0">
                <a:sym typeface="+mn-ea"/>
              </a:rPr>
              <a:t>   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</a:t>
            </a:r>
            <a:r>
              <a:rPr lang="en-IN" altLang="en-US" sz="2000" b="1" dirty="0">
                <a:sym typeface="+mn-ea"/>
              </a:rPr>
              <a:t>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@ComponentScan, @Configuration, @EnableAutoConfiguration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28. </a:t>
            </a:r>
            <a:r>
              <a:rPr lang="en-US" altLang="en-GB" sz="2000" b="1" dirty="0">
                <a:sym typeface="+mn-ea"/>
              </a:rPr>
              <a:t>How do you ensure a collection is loaded immediately with its parent entity in JPA?</a:t>
            </a: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  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</a:t>
            </a:r>
            <a:r>
              <a:rPr lang="en-IN" altLang="en-US" sz="2000" b="1" dirty="0">
                <a:sym typeface="+mn-ea"/>
              </a:rPr>
              <a:t> Use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fetch = FetchType.EAGER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6130"/>
            <a:ext cx="8415020" cy="5340350"/>
          </a:xfrm>
        </p:spPr>
        <p:txBody>
          <a:bodyPr/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29. </a:t>
            </a: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How do you validate request bodies in Spring REST?</a:t>
            </a:r>
            <a:endParaRPr lang="en-US" altLang="en-GB" sz="2000" b="1" dirty="0">
              <a:solidFill>
                <a:schemeClr val="tx1"/>
              </a:solidFill>
              <a:sym typeface="+mn-ea"/>
            </a:endParaRPr>
          </a:p>
          <a:p>
            <a:pPr marL="0" algn="l">
              <a:buClrTx/>
              <a:buSzTx/>
              <a:buFont typeface="+mj-lt"/>
              <a:buNone/>
            </a:pP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    Use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@Valid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30. Which class in Spring helps to return  the status, payload and headers from a REST API </a:t>
            </a:r>
            <a:r>
              <a:rPr lang="en-IN" altLang="en-US" sz="2000" b="1" dirty="0">
                <a:sym typeface="+mn-ea"/>
              </a:rPr>
              <a:t> to the client </a:t>
            </a:r>
            <a:r>
              <a:rPr lang="en-IN" altLang="en-US" sz="2000" b="1" dirty="0">
                <a:sym typeface="+mn-ea"/>
              </a:rPr>
              <a:t>?</a:t>
            </a: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org.springframework.http.ResponseEntity&lt;T&gt;</a:t>
            </a:r>
            <a:endParaRPr lang="en-US" altLang="en-GB" sz="2000" b="1" dirty="0"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31. </a:t>
            </a:r>
            <a:r>
              <a:rPr lang="en-IN" sz="2000" b="1" dirty="0">
                <a:sym typeface="+mn-ea"/>
              </a:rPr>
              <a:t>What can be done to detect the classes in different package</a:t>
            </a:r>
            <a:r>
              <a:rPr lang="en-IN" altLang="en-US" sz="2000" b="1" dirty="0">
                <a:sym typeface="+mn-ea"/>
              </a:rPr>
              <a:t>?</a:t>
            </a:r>
            <a:r>
              <a:rPr lang="en-IN" altLang="en-US" sz="2000" b="1" dirty="0">
                <a:sym typeface="+mn-ea"/>
              </a:rPr>
              <a:t>   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</a:t>
            </a:r>
            <a:r>
              <a:rPr lang="en-IN" altLang="en-US" sz="2000" b="1" dirty="0">
                <a:sym typeface="+mn-ea"/>
              </a:rPr>
              <a:t> Use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@SpringBootApplication(scanBasePackages = {"com"})</a:t>
            </a:r>
            <a:endParaRPr lang="en-US" altLang="en-GB" sz="2000" b="1" dirty="0">
              <a:sym typeface="+mn-ea"/>
            </a:endParaRPr>
          </a:p>
          <a:p>
            <a:pPr marL="0" indent="0"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32. </a:t>
            </a:r>
            <a:r>
              <a:rPr lang="en-US" altLang="en-GB" sz="2000" b="1" dirty="0">
                <a:sym typeface="+mn-ea"/>
              </a:rPr>
              <a:t> How does Spring Boot automatically configure your application?</a:t>
            </a:r>
            <a:endParaRPr lang="en-US" altLang="en-GB" sz="2000" b="1" dirty="0">
              <a:sym typeface="+mn-ea"/>
            </a:endParaRPr>
          </a:p>
          <a:p>
            <a:pPr marL="0" indent="0">
              <a:buNone/>
            </a:pP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 Using </a:t>
            </a:r>
            <a:r>
              <a:rPr lang="en-US" altLang="en-GB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@SpringBootApplication </a:t>
            </a:r>
            <a:r>
              <a:rPr lang="en-IN" altLang="en-US" sz="2000" b="1" dirty="0">
                <a:sym typeface="+mn-ea"/>
              </a:rPr>
              <a:t>and </a:t>
            </a:r>
            <a:r>
              <a:rPr lang="en-US" altLang="en-GB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@EnableAutoConfiguration</a:t>
            </a: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6130"/>
            <a:ext cx="8415020" cy="5340350"/>
          </a:xfrm>
        </p:spPr>
        <p:txBody>
          <a:bodyPr/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33. 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How</a:t>
            </a: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 to execute a bulk update, </a:t>
            </a:r>
            <a:r>
              <a:rPr lang="en-IN" altLang="en-US" sz="2000" b="1" dirty="0">
                <a:solidFill>
                  <a:schemeClr val="tx1"/>
                </a:solidFill>
                <a:sym typeface="+mn-ea"/>
              </a:rPr>
              <a:t>without using</a:t>
            </a: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 repository’s save()</a:t>
            </a:r>
            <a:r>
              <a:rPr lang="en-US" altLang="en-GB" sz="2000" b="1" dirty="0">
                <a:solidFill>
                  <a:schemeClr val="tx1"/>
                </a:solidFill>
                <a:sym typeface="+mn-ea"/>
              </a:rPr>
              <a:t>?</a:t>
            </a:r>
            <a:endParaRPr lang="en-US" altLang="en-GB" sz="2000" b="1" dirty="0">
              <a:solidFill>
                <a:schemeClr val="tx1"/>
              </a:solidFill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</a:t>
            </a:r>
            <a:r>
              <a:rPr lang="en-IN" altLang="en-US" sz="2000" b="1" dirty="0">
                <a:sym typeface="+mn-ea"/>
              </a:rPr>
              <a:t>Use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@Modifying @Query(“pass update query)</a:t>
            </a:r>
            <a:endParaRPr lang="en-US" altLang="en-GB" sz="2000" b="1" dirty="0">
              <a:solidFill>
                <a:schemeClr val="tx1"/>
              </a:solidFill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34. </a:t>
            </a:r>
            <a:r>
              <a:rPr lang="en-US" altLang="en-GB" sz="2000" b="1" dirty="0">
                <a:sym typeface="+mn-ea"/>
              </a:rPr>
              <a:t>How </a:t>
            </a:r>
            <a:r>
              <a:rPr lang="en-IN" altLang="en-US" sz="2000" b="1" dirty="0">
                <a:sym typeface="+mn-ea"/>
              </a:rPr>
              <a:t>to </a:t>
            </a:r>
            <a:r>
              <a:rPr lang="en-US" altLang="en-GB" sz="2000" b="1" dirty="0">
                <a:sym typeface="+mn-ea"/>
              </a:rPr>
              <a:t>define a bean in Java configuration</a:t>
            </a:r>
            <a:r>
              <a:rPr lang="en-IN" altLang="en-US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?</a:t>
            </a: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  Add a method annotated with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@Bean</a:t>
            </a:r>
            <a:r>
              <a:rPr lang="en-IN" altLang="en-US" sz="2000" b="1" dirty="0">
                <a:sym typeface="+mn-ea"/>
              </a:rPr>
              <a:t> in the configuration class</a:t>
            </a:r>
            <a:endParaRPr lang="en-US" altLang="en-GB" sz="2000" b="1" dirty="0"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35. </a:t>
            </a:r>
            <a:r>
              <a:rPr lang="en-US" altLang="en-GB" sz="2000" b="1" dirty="0">
                <a:sym typeface="+mn-ea"/>
              </a:rPr>
              <a:t>How do you expose a REST endpoint in Spring Boot?</a:t>
            </a:r>
            <a:r>
              <a:rPr lang="en-IN" altLang="en-US" sz="2000" b="1" dirty="0">
                <a:sym typeface="+mn-ea"/>
              </a:rPr>
              <a:t>  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</a:t>
            </a:r>
            <a:r>
              <a:rPr lang="en-US" altLang="en-GB" sz="2000" b="1" dirty="0">
                <a:sym typeface="+mn-ea"/>
              </a:rPr>
              <a:t>Use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@RestController &amp; </a:t>
            </a:r>
            <a:r>
              <a:rPr lang="en-US" altLang="en-GB" sz="2000" b="1" dirty="0">
                <a:sym typeface="+mn-ea"/>
              </a:rPr>
              <a:t>map methods with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@GetMapping, @PostMapping</a:t>
            </a:r>
            <a:r>
              <a:rPr lang="en-US" altLang="en-GB" sz="2000" b="1" dirty="0">
                <a:sym typeface="+mn-ea"/>
              </a:rPr>
              <a:t>, etc.</a:t>
            </a:r>
            <a:endParaRPr lang="en-US" altLang="en-GB" sz="2000" b="1" dirty="0">
              <a:sym typeface="+mn-ea"/>
            </a:endParaRPr>
          </a:p>
          <a:p>
            <a:pPr marL="0" indent="0">
              <a:buNone/>
            </a:pPr>
            <a:endParaRPr lang="en-US" altLang="en-GB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36. </a:t>
            </a:r>
            <a:r>
              <a:rPr lang="en-US" altLang="en-GB" sz="2000" b="1" dirty="0">
                <a:sym typeface="+mn-ea"/>
              </a:rPr>
              <a:t> How </a:t>
            </a:r>
            <a:r>
              <a:rPr lang="en-IN" altLang="en-US" sz="2000" b="1" dirty="0">
                <a:sym typeface="+mn-ea"/>
              </a:rPr>
              <a:t>to </a:t>
            </a:r>
            <a:r>
              <a:rPr lang="en-US" altLang="en-GB" sz="2000" b="1" dirty="0">
                <a:sym typeface="+mn-ea"/>
              </a:rPr>
              <a:t>externalize configuration</a:t>
            </a:r>
            <a:r>
              <a:rPr lang="en-IN" altLang="en-US" sz="2000" b="1" dirty="0">
                <a:sym typeface="+mn-ea"/>
              </a:rPr>
              <a:t> in spring boot</a:t>
            </a: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?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 </a:t>
            </a:r>
            <a:r>
              <a:rPr lang="en-IN" altLang="en-US" sz="2000" b="1" dirty="0">
                <a:sym typeface="+mn-ea"/>
              </a:rPr>
              <a:t>Use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en-GB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profiles, environment variables, or command-line args</a:t>
            </a: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6130"/>
            <a:ext cx="8415020" cy="5340350"/>
          </a:xfrm>
        </p:spPr>
        <p:txBody>
          <a:bodyPr/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algn="l">
              <a:buClrTx/>
              <a:buSzTx/>
              <a:buFont typeface="+mj-lt"/>
              <a:buNone/>
            </a:pPr>
            <a:r>
              <a:rPr lang="en-IN" altLang="en-US" sz="2000" b="1" dirty="0">
                <a:sym typeface="+mn-ea"/>
              </a:rPr>
              <a:t>37. </a:t>
            </a:r>
            <a:r>
              <a:rPr lang="en-US" altLang="en-GB" sz="2000" b="1" dirty="0">
                <a:sym typeface="+mn-ea"/>
              </a:rPr>
              <a:t>Which annotation combines web controller behavior </a:t>
            </a:r>
            <a:r>
              <a:rPr lang="en-IN" altLang="en-US" sz="2000" b="1" dirty="0">
                <a:sym typeface="+mn-ea"/>
              </a:rPr>
              <a:t>and gives </a:t>
            </a:r>
            <a:r>
              <a:rPr lang="en-US" altLang="en-GB" sz="2000" b="1" dirty="0">
                <a:sym typeface="+mn-ea"/>
              </a:rPr>
              <a:t>automatic JSON response conversion in Spring? </a:t>
            </a:r>
            <a:endParaRPr lang="en-US" altLang="en-GB" sz="2000" b="1" dirty="0">
              <a:sym typeface="+mn-ea"/>
            </a:endParaRPr>
          </a:p>
          <a:p>
            <a:pPr marL="0" algn="l">
              <a:buClrTx/>
              <a:buSzTx/>
              <a:buFont typeface="+mj-lt"/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@RestController – @Controller + @ResponseBody.</a:t>
            </a:r>
            <a:r>
              <a:rPr lang="en-IN" altLang="en-US" sz="2000" b="1" dirty="0">
                <a:sym typeface="+mn-ea"/>
              </a:rPr>
              <a:t>    	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algn="l">
              <a:buClrTx/>
              <a:buSzTx/>
              <a:buFont typeface="+mj-lt"/>
              <a:buNone/>
            </a:pPr>
            <a:endParaRPr lang="en-US" altLang="en-GB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38. </a:t>
            </a:r>
            <a:r>
              <a:rPr lang="en-US" altLang="en-GB" sz="2000" b="1" dirty="0">
                <a:sym typeface="+mn-ea"/>
              </a:rPr>
              <a:t>How </a:t>
            </a:r>
            <a:r>
              <a:rPr lang="en-IN" altLang="en-US" sz="2000" b="1" dirty="0">
                <a:sym typeface="+mn-ea"/>
              </a:rPr>
              <a:t>to</a:t>
            </a:r>
            <a:r>
              <a:rPr lang="en-US" altLang="en-GB" sz="2000" b="1" dirty="0">
                <a:sym typeface="+mn-ea"/>
              </a:rPr>
              <a:t> secure APIs without storing user sessions on the server?</a:t>
            </a:r>
            <a:endParaRPr lang="en-US" altLang="en-GB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Use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JWT authentication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39. </a:t>
            </a:r>
            <a:r>
              <a:rPr lang="en-US" altLang="en-GB" sz="2000" b="1" dirty="0">
                <a:sym typeface="+mn-ea"/>
              </a:rPr>
              <a:t>How </a:t>
            </a:r>
            <a:r>
              <a:rPr lang="en-IN" altLang="en-US" sz="2000" b="1" dirty="0">
                <a:sym typeface="+mn-ea"/>
              </a:rPr>
              <a:t>to </a:t>
            </a:r>
            <a:r>
              <a:rPr lang="en-US" altLang="en-GB" sz="2000" b="1" dirty="0">
                <a:sym typeface="+mn-ea"/>
              </a:rPr>
              <a:t>allow public access to specific URLs while keeping others secured?</a:t>
            </a:r>
            <a:r>
              <a:rPr lang="en-IN" altLang="en-US" sz="2000" b="1" dirty="0">
                <a:sym typeface="+mn-ea"/>
              </a:rPr>
              <a:t>?</a:t>
            </a:r>
            <a:r>
              <a:rPr lang="en-IN" altLang="en-US" sz="2000" b="1" dirty="0">
                <a:sym typeface="+mn-ea"/>
              </a:rPr>
              <a:t>   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</a:t>
            </a:r>
            <a:r>
              <a:rPr lang="en-IN" altLang="en-US" sz="2000" b="1" dirty="0">
                <a:sym typeface="+mn-ea"/>
              </a:rPr>
              <a:t> Configure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authorizeHttpRequests() </a:t>
            </a:r>
            <a:r>
              <a:rPr lang="en-US" altLang="en-GB" sz="2000" b="1" dirty="0">
                <a:sym typeface="+mn-ea"/>
              </a:rPr>
              <a:t>in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SecurityFilterChain</a:t>
            </a: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 </a:t>
            </a:r>
            <a:r>
              <a:rPr lang="en-US" altLang="en-GB" sz="2000" b="1" dirty="0">
                <a:sym typeface="+mn-ea"/>
              </a:rPr>
              <a:t>and permit specific endpoint</a:t>
            </a:r>
            <a:endParaRPr lang="en-US" altLang="en-GB" sz="2000" b="1" dirty="0">
              <a:sym typeface="+mn-ea"/>
            </a:endParaRPr>
          </a:p>
          <a:p>
            <a:pPr marL="0" indent="0"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40. How</a:t>
            </a:r>
            <a:r>
              <a:rPr lang="en-US" altLang="en-GB" sz="2000" b="1" dirty="0">
                <a:sym typeface="+mn-ea"/>
              </a:rPr>
              <a:t> to apply sorting to query results in Spring Data JPA?</a:t>
            </a:r>
            <a:r>
              <a:rPr lang="en-IN" altLang="en-US" sz="2000" b="1" dirty="0">
                <a:sym typeface="+mn-ea"/>
              </a:rPr>
              <a:t>?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 </a:t>
            </a:r>
            <a:r>
              <a:rPr lang="en-US" altLang="en-GB" sz="2000" b="1" dirty="0">
                <a:sym typeface="+mn-ea"/>
              </a:rPr>
              <a:t>Pass Sort object </a:t>
            </a:r>
            <a:r>
              <a:rPr lang="en-IN" altLang="en-US" sz="2000" b="1" dirty="0">
                <a:sym typeface="+mn-ea"/>
              </a:rPr>
              <a:t>in find method </a:t>
            </a: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repository.find(Sort sort)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en-GB" sz="2000" b="1" dirty="0">
                <a:sym typeface="+mn-ea"/>
              </a:rPr>
              <a:t> </a:t>
            </a: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6130"/>
            <a:ext cx="8415020" cy="5340350"/>
          </a:xfrm>
        </p:spPr>
        <p:txBody>
          <a:bodyPr/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41. </a:t>
            </a:r>
            <a:r>
              <a:rPr lang="en-US" altLang="en-GB" sz="2000" b="1" dirty="0">
                <a:sym typeface="+mn-ea"/>
              </a:rPr>
              <a:t>If a secured endpoint keeps returning 403 despite valid credentials, what’s likely wrong?</a:t>
            </a:r>
            <a:r>
              <a:rPr lang="en-IN" altLang="en-US" sz="2000" b="1" dirty="0">
                <a:sym typeface="+mn-ea"/>
              </a:rPr>
              <a:t>?</a:t>
            </a:r>
            <a:endParaRPr lang="en-US" altLang="en-GB" sz="2000" b="1" dirty="0">
              <a:solidFill>
                <a:schemeClr val="tx1"/>
              </a:solidFill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</a:t>
            </a:r>
            <a:r>
              <a:rPr lang="en-US" altLang="en-GB" sz="2000" b="1" dirty="0">
                <a:sym typeface="+mn-ea"/>
              </a:rPr>
              <a:t>The authenticated user </a:t>
            </a:r>
            <a:r>
              <a:rPr lang="en-US" altLang="en-GB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lacks the required authority or role</a:t>
            </a:r>
            <a:r>
              <a:rPr lang="en-US" altLang="en-GB" sz="2000" b="1" dirty="0">
                <a:sym typeface="+mn-ea"/>
              </a:rPr>
              <a:t>.</a:t>
            </a:r>
            <a:endParaRPr lang="en-US" altLang="en-GB" sz="2000" b="1" dirty="0">
              <a:sym typeface="+mn-ea"/>
            </a:endParaRPr>
          </a:p>
          <a:p>
            <a:pPr marL="0" indent="0">
              <a:buFont typeface="+mj-lt"/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42. </a:t>
            </a:r>
            <a:r>
              <a:rPr lang="en-US" altLang="en-GB" sz="2000" b="1" dirty="0">
                <a:sym typeface="+mn-ea"/>
              </a:rPr>
              <a:t>What annotation allows method-level access control using SpEL expressions?</a:t>
            </a:r>
            <a:endParaRPr lang="en-US" altLang="en-GB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  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@PreAuthorize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43.</a:t>
            </a:r>
            <a:r>
              <a:rPr lang="en-US" altLang="en-GB" sz="2000" b="1" dirty="0">
                <a:sym typeface="+mn-ea"/>
              </a:rPr>
              <a:t>Which annotation allows storing a list of String values?</a:t>
            </a:r>
            <a:r>
              <a:rPr lang="en-IN" altLang="en-US" sz="2000" b="1" dirty="0">
                <a:sym typeface="+mn-ea"/>
              </a:rPr>
              <a:t> 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</a:t>
            </a:r>
            <a:r>
              <a:rPr lang="en-IN" altLang="en-US" sz="2000" b="1" dirty="0">
                <a:sym typeface="+mn-ea"/>
              </a:rPr>
              <a:t>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@ElementCollection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44. </a:t>
            </a:r>
            <a:r>
              <a:rPr lang="en-US" altLang="en-GB" sz="2000" b="1" dirty="0">
                <a:sym typeface="+mn-ea"/>
              </a:rPr>
              <a:t>Which annotation allows to define custom JPQL or SQL queries in Spring Data JPA?</a:t>
            </a:r>
            <a:endParaRPr lang="en-US" altLang="en-GB" sz="2000" b="1" dirty="0">
              <a:sym typeface="+mn-ea"/>
            </a:endParaRPr>
          </a:p>
          <a:p>
            <a:pPr marL="0" indent="0">
              <a:buNone/>
            </a:pP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  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@Query</a:t>
            </a: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6130"/>
            <a:ext cx="8415020" cy="5340350"/>
          </a:xfrm>
        </p:spPr>
        <p:txBody>
          <a:bodyPr/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45. </a:t>
            </a:r>
            <a:r>
              <a:rPr lang="en-US" altLang="en-GB" sz="2000" b="1" dirty="0">
                <a:sym typeface="+mn-ea"/>
              </a:rPr>
              <a:t>How </a:t>
            </a:r>
            <a:r>
              <a:rPr lang="en-IN" altLang="en-US" sz="2000" b="1" dirty="0">
                <a:sym typeface="+mn-ea"/>
              </a:rPr>
              <a:t>to </a:t>
            </a:r>
            <a:r>
              <a:rPr lang="en-US" altLang="en-GB" sz="2000" b="1" dirty="0">
                <a:sym typeface="+mn-ea"/>
              </a:rPr>
              <a:t>enable caching</a:t>
            </a:r>
            <a:r>
              <a:rPr lang="en-IN" altLang="en-US" sz="2000" b="1" dirty="0">
                <a:sym typeface="+mn-ea"/>
              </a:rPr>
              <a:t> in spring application</a:t>
            </a:r>
            <a:r>
              <a:rPr lang="en-US" altLang="en-GB" sz="2000" b="1" dirty="0">
                <a:sym typeface="+mn-ea"/>
              </a:rPr>
              <a:t>? </a:t>
            </a:r>
            <a:endParaRPr lang="en-US" altLang="en-GB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</a:t>
            </a:r>
            <a:r>
              <a:rPr lang="en-US" altLang="en-GB" sz="2000" b="1" dirty="0">
                <a:sym typeface="+mn-ea"/>
              </a:rPr>
              <a:t>Annotate with </a:t>
            </a:r>
            <a:r>
              <a:rPr lang="en-US" altLang="en-GB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@EnableCaching</a:t>
            </a:r>
            <a:endParaRPr lang="en-US" altLang="en-GB" sz="2000" b="1" dirty="0">
              <a:sym typeface="+mn-ea"/>
            </a:endParaRPr>
          </a:p>
          <a:p>
            <a:pPr marL="0" indent="0">
              <a:buFont typeface="+mj-lt"/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46. </a:t>
            </a:r>
            <a:r>
              <a:rPr lang="en-IN" altLang="en-US" sz="2000" b="1" dirty="0">
                <a:sym typeface="+mn-ea"/>
              </a:rPr>
              <a:t>How </a:t>
            </a:r>
            <a:r>
              <a:rPr lang="en-US" altLang="en-GB" sz="2000" b="1" dirty="0">
                <a:sym typeface="+mn-ea"/>
              </a:rPr>
              <a:t>to add profiles  to specific beans?</a:t>
            </a:r>
            <a:endParaRPr lang="en-US" altLang="en-GB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  </a:t>
            </a:r>
            <a:r>
              <a:rPr lang="en-IN" altLang="en-US" sz="2000" b="1" dirty="0">
                <a:sym typeface="+mn-ea"/>
              </a:rPr>
              <a:t> Use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@Profile(“dev”) </a:t>
            </a:r>
            <a:r>
              <a:rPr lang="en-IN" altLang="en-US" sz="2000" b="1" dirty="0">
                <a:sym typeface="+mn-ea"/>
              </a:rPr>
              <a:t>above the bean method</a:t>
            </a: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47. </a:t>
            </a:r>
            <a:r>
              <a:rPr lang="en-IN" altLang="en-US" sz="2000" b="1">
                <a:sym typeface="+mn-ea"/>
              </a:rPr>
              <a:t>How to pick a specific bean, if more than </a:t>
            </a:r>
            <a:r>
              <a:rPr lang="en-IN" sz="2000" b="1">
                <a:sym typeface="+mn-ea"/>
              </a:rPr>
              <a:t>one bean of the same type is available in java based config</a:t>
            </a:r>
            <a:r>
              <a:rPr lang="en-US" altLang="en-GB" sz="2000" b="1">
                <a:sym typeface="+mn-ea"/>
              </a:rPr>
              <a:t>?</a:t>
            </a:r>
            <a:r>
              <a:rPr lang="en-IN" altLang="en-US" sz="2000" b="1" dirty="0">
                <a:sym typeface="+mn-ea"/>
              </a:rPr>
              <a:t> 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</a:t>
            </a:r>
            <a:r>
              <a:rPr lang="en-IN" altLang="en-US" sz="2000" b="1" dirty="0">
                <a:sym typeface="+mn-ea"/>
              </a:rPr>
              <a:t> Use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@Primary </a:t>
            </a: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None/>
            </a:pPr>
            <a:r>
              <a:rPr lang="en-IN" altLang="en-US" sz="2000" b="1" dirty="0">
                <a:sym typeface="+mn-ea"/>
              </a:rPr>
              <a:t>48. </a:t>
            </a:r>
            <a:r>
              <a:rPr lang="en-US" altLang="en-GB" sz="2000" b="1" dirty="0">
                <a:sym typeface="+mn-ea"/>
              </a:rPr>
              <a:t> Which annotation would </a:t>
            </a:r>
            <a:r>
              <a:rPr lang="en-IN" altLang="en-US" sz="2000" b="1" dirty="0">
                <a:sym typeface="+mn-ea"/>
              </a:rPr>
              <a:t>allow to</a:t>
            </a:r>
            <a:r>
              <a:rPr lang="en-US" altLang="en-GB" sz="2000" b="1" dirty="0">
                <a:sym typeface="+mn-ea"/>
              </a:rPr>
              <a:t> inject a bean only when a specific property is set</a:t>
            </a:r>
            <a:r>
              <a:rPr lang="en-IN" altLang="en-US" sz="2000" b="1" dirty="0">
                <a:sym typeface="+mn-ea"/>
              </a:rPr>
              <a:t> and matches a given value</a:t>
            </a:r>
            <a:r>
              <a:rPr lang="en-US" altLang="en-GB" sz="2000" b="1" dirty="0">
                <a:sym typeface="+mn-ea"/>
              </a:rPr>
              <a:t>?</a:t>
            </a:r>
            <a:endParaRPr lang="en-US" altLang="en-GB" sz="2000" b="1" dirty="0">
              <a:sym typeface="+mn-ea"/>
            </a:endParaRPr>
          </a:p>
          <a:p>
            <a:pPr marL="0" indent="0">
              <a:buNone/>
            </a:pP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  </a:t>
            </a:r>
            <a:r>
              <a:rPr lang="en-IN" altLang="en-US" sz="2000" b="1" dirty="0">
                <a:sym typeface="+mn-ea"/>
              </a:rPr>
              <a:t>Use </a:t>
            </a:r>
            <a:r>
              <a:rPr lang="en-IN" altLang="en-US" sz="2000" b="1" dirty="0">
                <a:sym typeface="+mn-ea"/>
              </a:rPr>
              <a:t>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@ConditionalOnProperty</a:t>
            </a: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6130"/>
            <a:ext cx="8415020" cy="5340350"/>
          </a:xfrm>
        </p:spPr>
        <p:txBody>
          <a:bodyPr/>
          <a:p>
            <a:pPr marL="0" indent="0">
              <a:buFont typeface="+mj-lt"/>
              <a:buNone/>
            </a:pPr>
            <a:endParaRPr lang="en-IN" altLang="en-US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49. </a:t>
            </a:r>
            <a:r>
              <a:rPr lang="en-US" altLang="en-GB" sz="2000" b="1" dirty="0">
                <a:sym typeface="+mn-ea"/>
              </a:rPr>
              <a:t>How can you execute code immediately after a Spring Boot application has started?</a:t>
            </a:r>
            <a:endParaRPr lang="en-US" altLang="en-GB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 Implement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CommandLineRunner </a:t>
            </a:r>
            <a:r>
              <a:rPr lang="en-US" altLang="en-GB" sz="2000" b="1" dirty="0">
                <a:sym typeface="+mn-ea"/>
              </a:rPr>
              <a:t> or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ApplicationRunner</a:t>
            </a: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IN" altLang="en-US" sz="2000" b="1" dirty="0">
                <a:sym typeface="+mn-ea"/>
              </a:rPr>
              <a:t>override </a:t>
            </a: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run() </a:t>
            </a:r>
            <a:r>
              <a:rPr lang="en-IN" altLang="en-US" sz="2000" b="1" dirty="0">
                <a:sym typeface="+mn-ea"/>
              </a:rPr>
              <a:t>method</a:t>
            </a:r>
            <a:endParaRPr lang="en-US" altLang="en-GB" sz="2000" b="1" dirty="0">
              <a:sym typeface="+mn-ea"/>
            </a:endParaRPr>
          </a:p>
          <a:p>
            <a:pPr marL="0" indent="0">
              <a:buFont typeface="+mj-lt"/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50. </a:t>
            </a:r>
            <a:r>
              <a:rPr lang="en-US" altLang="en-GB" sz="2000" b="1" dirty="0">
                <a:sym typeface="+mn-ea"/>
              </a:rPr>
              <a:t>Which Spring concept allows to execute cross-cutting concerns (like logging or transactions) without modifying the core business logic of your application?</a:t>
            </a:r>
            <a:endParaRPr lang="en-US" altLang="en-GB" sz="2000" b="1" dirty="0"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 sz="2000" b="1" dirty="0">
                <a:sym typeface="+mn-ea"/>
              </a:rPr>
              <a:t> </a:t>
            </a:r>
            <a:r>
              <a:rPr lang="en-US" altLang="en-GB" sz="2000" b="1" dirty="0">
                <a:sym typeface="+mn-ea"/>
              </a:rPr>
              <a:t>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AOP (Aspect-Oriented Programming)</a:t>
            </a:r>
            <a:r>
              <a:rPr lang="en-US" altLang="en-GB" sz="2000" b="1" dirty="0">
                <a:sym typeface="+mn-ea"/>
              </a:rPr>
              <a:t> with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@Aspect</a:t>
            </a:r>
            <a:r>
              <a:rPr lang="en-US" altLang="en-GB" sz="2000" b="1" dirty="0">
                <a:sym typeface="+mn-ea"/>
              </a:rPr>
              <a:t> and </a:t>
            </a:r>
            <a:r>
              <a:rPr lang="en-IN" altLang="en-US" sz="2000" b="1" dirty="0">
                <a:solidFill>
                  <a:srgbClr val="FF000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@Before / @After</a:t>
            </a: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IN" altLang="en-US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lvl="1" indent="457200">
              <a:buNone/>
            </a:pPr>
            <a:endParaRPr lang="en-US" altLang="en-GB" sz="2000" b="1" dirty="0">
              <a:solidFill>
                <a:srgbClr val="FF000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theme/theme1.xml><?xml version="1.0" encoding="utf-8"?>
<a:theme xmlns:a="http://schemas.openxmlformats.org/drawingml/2006/main" name="shristi-themefinal-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shristi-themefinal-15</Template>
  <TotalTime>0</TotalTime>
  <Words>5926</Words>
  <Application>WPS Slides</Application>
  <PresentationFormat>On-screen Show (4:3)</PresentationFormat>
  <Paragraphs>243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Consolas</vt:lpstr>
      <vt:lpstr>Microsoft YaHei</vt:lpstr>
      <vt:lpstr>Arial Unicode MS</vt:lpstr>
      <vt:lpstr>Comic Sans MS</vt:lpstr>
      <vt:lpstr>shristi-themefinal-15</vt:lpstr>
      <vt:lpstr>Spring – Security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Beans</dc:title>
  <dc:creator>SRI PRIYA</dc:creator>
  <cp:lastModifiedBy>Sripriya Mathan</cp:lastModifiedBy>
  <cp:revision>235</cp:revision>
  <dcterms:created xsi:type="dcterms:W3CDTF">2006-08-16T00:00:00Z</dcterms:created>
  <dcterms:modified xsi:type="dcterms:W3CDTF">2025-05-13T13:13:23Z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B1C74D7289774CED9DE0B57804BFAD5C_13</vt:lpwstr>
  </property>
  <property fmtid="{D5CDD505-2E9C-101B-9397-08002B2CF9AE}" pid="3" name="KSOProductBuildVer">
    <vt:lpwstr>2057-12.2.0.20796</vt:lpwstr>
  </property>
</Properties>
</file>